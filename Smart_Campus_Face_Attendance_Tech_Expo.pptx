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and visitors! Today we are showcasing our Smart Campus Face Recognition Attendance System. Unlike traditional systems that require stopping, tapping cards, or pressing finger sensors, our system lets multiple students walk naturally through campus gates while recognizing them in real time at 30+ FPS on a standard laptop without any expensive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attendance methods cause 40-minute gate lines and allow friends to proxy swipe each other's cards. Our solution eliminates both: students walk through naturally without stopping, proxy attendance is impossible, and verified records are logged instantly with personal voice greetings.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is intentionally lightweight so it doesn't need cloud GPUs. We use OpenCV YuNet for 12ms face detection, ArcFace MobileFaceNet for 512-D face vectors, ByteTrack for crowd tracking, FastAPI with NumPy BLAS for under 0.4ms vector search, and a modern React 19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pipeline operates in 4 quick steps under 35ms: Step 1 captures video; Step 2 detects faces with YuNet and tracks them with ByteTrack; Step 3 extracts ArcFace vectors and matches them in under 0.4ms; Step 4 confirms identity across 3 frames, logs the record, and speaks a voice greeting.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our booth today, you can see 4 live highlights: 30+ FPS speed on a standard CPU; live HUD with voice greetings; unknown visitor tracking with 1-click registration; and instant 1-click Excel attendance export. Thank you! We welcome your questions and invite you to step in front of the camera!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822960"/>
            <a:ext cx="10362895" cy="5212080"/>
          </a:xfrm>
          <a:prstGeom prst="roundRect">
            <a:avLst/>
          </a:prstGeom>
          <a:solidFill>
            <a:srgbClr val="16213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548640" tIns="457200" rIns="548640"/>
          <a:lstStyle/>
          <a:p>
            <a:pPr algn="ctr"/>
            <a:r>
              <a:rPr sz="1200" b="1">
                <a:solidFill>
                  <a:srgbClr val="38BDF8"/>
                </a:solidFill>
                <a:latin typeface="Segoe UI"/>
              </a:rPr>
              <a:t>🚀 TECH EXPO LIVE SHOWCASE</a:t>
            </a:r>
          </a:p>
          <a:p>
            <a:pPr>
              <a:spcBef>
                <a:spcPts val="1000"/>
              </a:spcBef>
            </a:pPr>
            <a:r>
              <a:rPr sz="3200" b="1">
                <a:solidFill>
                  <a:srgbClr val="FFFFFF"/>
                </a:solidFill>
                <a:latin typeface="Segoe UI"/>
              </a:rPr>
              <a:t>Smart Campus Face Recognition Attendance</a:t>
            </a:r>
          </a:p>
          <a:p>
            <a:pPr>
              <a:spcBef>
                <a:spcPts val="600"/>
              </a:spcBef>
            </a:pPr>
            <a:r>
              <a:rPr sz="1500">
                <a:solidFill>
                  <a:srgbClr val="A0AEC0"/>
                </a:solidFill>
                <a:latin typeface="Segoe UI"/>
              </a:rPr>
              <a:t>Fast, Contactless Multi-Person Attendance for Campus Gates &amp; Lecture Halls</a:t>
            </a:r>
          </a:p>
          <a:p>
            <a:pPr>
              <a:spcBef>
                <a:spcPts val="2400"/>
              </a:spcBef>
            </a:pPr>
            <a:r>
              <a:rPr sz="1200" b="1">
                <a:solidFill>
                  <a:srgbClr val="FBBF24"/>
                </a:solidFill>
                <a:latin typeface="Segoe UI"/>
              </a:rPr>
              <a:t>KEY PROJECT HIGHLIGHTS:</a:t>
            </a:r>
          </a:p>
          <a:p>
            <a:pPr>
              <a:spcBef>
                <a:spcPts val="1000"/>
              </a:spcBef>
            </a:pPr>
            <a:r>
              <a:rPr sz="1300" b="1">
                <a:solidFill>
                  <a:srgbClr val="FFFFFF"/>
                </a:solidFill>
                <a:latin typeface="Segoe UI"/>
              </a:rPr>
              <a:t>•  ⚡ 30+ FPS on Standard PC: </a:t>
            </a:r>
            <a:r>
              <a:rPr sz="1300">
                <a:solidFill>
                  <a:srgbClr val="A0AEC0"/>
                </a:solidFill>
                <a:latin typeface="Segoe UI"/>
              </a:rPr>
              <a:t>Runs at real-time speeds on any basic laptop CPU with zero expensive GPU required.</a:t>
            </a:r>
          </a:p>
          <a:p>
            <a:pPr>
              <a:spcBef>
                <a:spcPts val="1000"/>
              </a:spcBef>
            </a:pPr>
            <a:r>
              <a:rPr sz="1300" b="1">
                <a:solidFill>
                  <a:srgbClr val="FFFFFF"/>
                </a:solidFill>
                <a:latin typeface="Segoe UI"/>
              </a:rPr>
              <a:t>•  🚶 Contactless Walk-Through: </a:t>
            </a:r>
            <a:r>
              <a:rPr sz="1300">
                <a:solidFill>
                  <a:srgbClr val="A0AEC0"/>
                </a:solidFill>
                <a:latin typeface="Segoe UI"/>
              </a:rPr>
              <a:t>Students walk naturally through the gate with no stopping, tapping, or queuing.</a:t>
            </a:r>
          </a:p>
          <a:p>
            <a:pPr>
              <a:spcBef>
                <a:spcPts val="1000"/>
              </a:spcBef>
            </a:pPr>
            <a:r>
              <a:rPr sz="1300" b="1">
                <a:solidFill>
                  <a:srgbClr val="FFFFFF"/>
                </a:solidFill>
                <a:latin typeface="Segoe UI"/>
              </a:rPr>
              <a:t>•  🛡️ Zero Proxy Attendance: </a:t>
            </a:r>
            <a:r>
              <a:rPr sz="1300">
                <a:solidFill>
                  <a:srgbClr val="A0AEC0"/>
                </a:solidFill>
                <a:latin typeface="Segoe UI"/>
              </a:rPr>
              <a:t>Multi-frame biometric verification completely eliminates 'buddy punching' and false matches.</a:t>
            </a:r>
          </a:p>
          <a:p>
            <a:pPr>
              <a:spcBef>
                <a:spcPts val="1000"/>
              </a:spcBef>
            </a:pPr>
            <a:r>
              <a:rPr sz="1300" b="1">
                <a:solidFill>
                  <a:srgbClr val="FFFFFF"/>
                </a:solidFill>
                <a:latin typeface="Segoe UI"/>
              </a:rPr>
              <a:t>•  📊 Live Command Center: </a:t>
            </a:r>
            <a:r>
              <a:rPr sz="1300">
                <a:solidFill>
                  <a:srgbClr val="A0AEC0"/>
                </a:solidFill>
                <a:latin typeface="Segoe UI"/>
              </a:rPr>
              <a:t>Real-time camera HUD, instant voice greetings, and 1-click Excel attendance export.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320040"/>
          </a:xfrm>
          <a:prstGeom prst="rect">
            <a:avLst/>
          </a:prstGeom>
          <a:noFill/>
        </p:spPr>
        <p:txBody>
          <a:bodyPr wrap="square" lIns="0" tIns="0" rIns="0" bIns="0">
            <a:spAutoFit/>
          </a:bodyPr>
          <a:lstStyle/>
          <a:p>
            <a:r>
              <a:rPr sz="1100" b="1">
                <a:solidFill>
                  <a:srgbClr val="38BDF8"/>
                </a:solidFill>
                <a:latin typeface="Segoe UI"/>
              </a:rPr>
              <a:t>PROJECT OVERVIEW</a:t>
            </a:r>
          </a:p>
        </p:txBody>
      </p:sp>
      <p:sp>
        <p:nvSpPr>
          <p:cNvPr id="4" name="TextBox 3"/>
          <p:cNvSpPr txBox="1"/>
          <p:nvPr/>
        </p:nvSpPr>
        <p:spPr>
          <a:xfrm>
            <a:off x="914400" y="822960"/>
            <a:ext cx="10332720" cy="1005840"/>
          </a:xfrm>
          <a:prstGeom prst="rect">
            <a:avLst/>
          </a:prstGeom>
          <a:noFill/>
        </p:spPr>
        <p:txBody>
          <a:bodyPr wrap="square" lIns="0" tIns="0" rIns="0" bIns="0">
            <a:spAutoFit/>
          </a:bodyPr>
          <a:lstStyle/>
          <a:p>
            <a:r>
              <a:rPr sz="2800" b="1">
                <a:solidFill>
                  <a:srgbClr val="FFFFFF"/>
                </a:solidFill>
                <a:latin typeface="Segoe UI"/>
              </a:rPr>
              <a:t>What Is This Project?</a:t>
            </a:r>
          </a:p>
          <a:p>
            <a:pPr>
              <a:spcBef>
                <a:spcPts val="400"/>
              </a:spcBef>
            </a:pPr>
            <a:r>
              <a:rPr sz="1300">
                <a:solidFill>
                  <a:srgbClr val="A0AEC0"/>
                </a:solidFill>
                <a:latin typeface="Segoe UI"/>
              </a:rPr>
              <a:t>A touchless, automated replacement for slow paper registers and fingerprint scanners.</a:t>
            </a:r>
          </a:p>
        </p:txBody>
      </p:sp>
      <p:sp>
        <p:nvSpPr>
          <p:cNvPr id="5" name="Rounded Rectangle 4"/>
          <p:cNvSpPr/>
          <p:nvPr/>
        </p:nvSpPr>
        <p:spPr>
          <a:xfrm>
            <a:off x="914400" y="1965960"/>
            <a:ext cx="5029200" cy="2148840"/>
          </a:xfrm>
          <a:prstGeom prst="roundRect">
            <a:avLst/>
          </a:prstGeom>
          <a:solidFill>
            <a:srgbClr val="16213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38BDF8"/>
                </a:solidFill>
                <a:latin typeface="Segoe UI"/>
              </a:rPr>
              <a:t>1. Natural Walk-Through Entry</a:t>
            </a:r>
          </a:p>
          <a:p>
            <a:pPr>
              <a:spcBef>
                <a:spcPts val="800"/>
              </a:spcBef>
            </a:pPr>
            <a:r>
              <a:rPr sz="1300">
                <a:solidFill>
                  <a:srgbClr val="A0AEC0"/>
                </a:solidFill>
                <a:latin typeface="Segoe UI"/>
              </a:rPr>
              <a:t>Students and faculty simply walk past the gate camera. The system recognizes faces at normal walking speed with no posing or swiping needed.</a:t>
            </a:r>
          </a:p>
        </p:txBody>
      </p:sp>
      <p:sp>
        <p:nvSpPr>
          <p:cNvPr id="6" name="Rounded Rectangle 5"/>
          <p:cNvSpPr/>
          <p:nvPr/>
        </p:nvSpPr>
        <p:spPr>
          <a:xfrm>
            <a:off x="6248095" y="1965960"/>
            <a:ext cx="5029200" cy="2148840"/>
          </a:xfrm>
          <a:prstGeom prst="roundRect">
            <a:avLst/>
          </a:prstGeom>
          <a:solidFill>
            <a:srgbClr val="162136"/>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F43F5E"/>
                </a:solidFill>
                <a:latin typeface="Segoe UI"/>
              </a:rPr>
              <a:t>2. Eliminates Gate Traffic Jams</a:t>
            </a:r>
          </a:p>
          <a:p>
            <a:pPr>
              <a:spcBef>
                <a:spcPts val="800"/>
              </a:spcBef>
            </a:pPr>
            <a:r>
              <a:rPr sz="1300">
                <a:solidFill>
                  <a:srgbClr val="A0AEC0"/>
                </a:solidFill>
                <a:latin typeface="Segoe UI"/>
              </a:rPr>
              <a:t>Traditional fingerprint scanners take 5 seconds per person, causing 40-minute morning bottlenecks. Our system processes the crowd in milliseconds.</a:t>
            </a:r>
          </a:p>
        </p:txBody>
      </p:sp>
      <p:sp>
        <p:nvSpPr>
          <p:cNvPr id="7" name="Rounded Rectangle 6"/>
          <p:cNvSpPr/>
          <p:nvPr/>
        </p:nvSpPr>
        <p:spPr>
          <a:xfrm>
            <a:off x="914400" y="4343400"/>
            <a:ext cx="5029200" cy="2148840"/>
          </a:xfrm>
          <a:prstGeom prst="roundRect">
            <a:avLst/>
          </a:prstGeom>
          <a:solidFill>
            <a:srgbClr val="162136"/>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FBBF24"/>
                </a:solidFill>
                <a:latin typeface="Segoe UI"/>
              </a:rPr>
              <a:t>3. 100% Anti-Proxy Protection</a:t>
            </a:r>
          </a:p>
          <a:p>
            <a:pPr>
              <a:spcBef>
                <a:spcPts val="800"/>
              </a:spcBef>
            </a:pPr>
            <a:r>
              <a:rPr sz="1300">
                <a:solidFill>
                  <a:srgbClr val="A0AEC0"/>
                </a:solidFill>
                <a:latin typeface="Segoe UI"/>
              </a:rPr>
              <a:t>Stops 'buddy punching' (where one student punches ID cards for absent friends). Biometric face vectors guarantee that only physical attendees are marked.</a:t>
            </a:r>
          </a:p>
        </p:txBody>
      </p:sp>
      <p:sp>
        <p:nvSpPr>
          <p:cNvPr id="8" name="Rounded Rectangle 7"/>
          <p:cNvSpPr/>
          <p:nvPr/>
        </p:nvSpPr>
        <p:spPr>
          <a:xfrm>
            <a:off x="6248095" y="4343400"/>
            <a:ext cx="5029200" cy="2148840"/>
          </a:xfrm>
          <a:prstGeom prst="roundRect">
            <a:avLst/>
          </a:prstGeom>
          <a:solidFill>
            <a:srgbClr val="162136"/>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34D399"/>
                </a:solidFill>
                <a:latin typeface="Segoe UI"/>
              </a:rPr>
              <a:t>4. Instant Logging &amp; Voice Greetings</a:t>
            </a:r>
          </a:p>
          <a:p>
            <a:pPr>
              <a:spcBef>
                <a:spcPts val="800"/>
              </a:spcBef>
            </a:pPr>
            <a:r>
              <a:rPr sz="1300">
                <a:solidFill>
                  <a:srgbClr val="A0AEC0"/>
                </a:solidFill>
                <a:latin typeface="Segoe UI"/>
              </a:rPr>
              <a:t>Automatically logs attendance with date and gate name, while instantly greeting each student aloud through audio (e.g. 'Welcome Rahul Sharma!').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320040"/>
          </a:xfrm>
          <a:prstGeom prst="rect">
            <a:avLst/>
          </a:prstGeom>
          <a:noFill/>
        </p:spPr>
        <p:txBody>
          <a:bodyPr wrap="square" lIns="0" tIns="0" rIns="0" bIns="0">
            <a:spAutoFit/>
          </a:bodyPr>
          <a:lstStyle/>
          <a:p>
            <a:r>
              <a:rPr sz="1100" b="1">
                <a:solidFill>
                  <a:srgbClr val="38BDF8"/>
                </a:solidFill>
                <a:latin typeface="Segoe UI"/>
              </a:rPr>
              <a:t>TECH STACK</a:t>
            </a:r>
          </a:p>
        </p:txBody>
      </p:sp>
      <p:sp>
        <p:nvSpPr>
          <p:cNvPr id="4" name="TextBox 3"/>
          <p:cNvSpPr txBox="1"/>
          <p:nvPr/>
        </p:nvSpPr>
        <p:spPr>
          <a:xfrm>
            <a:off x="914400" y="822960"/>
            <a:ext cx="10332720" cy="1005840"/>
          </a:xfrm>
          <a:prstGeom prst="rect">
            <a:avLst/>
          </a:prstGeom>
          <a:noFill/>
        </p:spPr>
        <p:txBody>
          <a:bodyPr wrap="square" lIns="0" tIns="0" rIns="0" bIns="0">
            <a:spAutoFit/>
          </a:bodyPr>
          <a:lstStyle/>
          <a:p>
            <a:r>
              <a:rPr sz="2800" b="1">
                <a:solidFill>
                  <a:srgbClr val="FFFFFF"/>
                </a:solidFill>
                <a:latin typeface="Segoe UI"/>
              </a:rPr>
              <a:t>Technologies Powering the System</a:t>
            </a:r>
          </a:p>
          <a:p>
            <a:pPr>
              <a:spcBef>
                <a:spcPts val="400"/>
              </a:spcBef>
            </a:pPr>
            <a:r>
              <a:rPr sz="1300">
                <a:solidFill>
                  <a:srgbClr val="A0AEC0"/>
                </a:solidFill>
                <a:latin typeface="Segoe UI"/>
              </a:rPr>
              <a:t>Modern, lightweight, open-source stack engineered for real-time edge computing.</a:t>
            </a:r>
          </a:p>
        </p:txBody>
      </p:sp>
      <p:sp>
        <p:nvSpPr>
          <p:cNvPr id="5" name="Rounded Rectangle 4"/>
          <p:cNvSpPr/>
          <p:nvPr/>
        </p:nvSpPr>
        <p:spPr>
          <a:xfrm>
            <a:off x="914400" y="1965960"/>
            <a:ext cx="5029200" cy="2148840"/>
          </a:xfrm>
          <a:prstGeom prst="roundRect">
            <a:avLst/>
          </a:prstGeom>
          <a:solidFill>
            <a:srgbClr val="16213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38BDF8"/>
                </a:solidFill>
                <a:latin typeface="Segoe UI"/>
              </a:rPr>
              <a:t>1. AI &amp; Computer Vision</a:t>
            </a:r>
          </a:p>
          <a:p>
            <a:pPr>
              <a:spcBef>
                <a:spcPts val="800"/>
              </a:spcBef>
            </a:pPr>
            <a:r>
              <a:rPr sz="1300">
                <a:solidFill>
                  <a:srgbClr val="A0AEC0"/>
                </a:solidFill>
                <a:latin typeface="Segoe UI"/>
              </a:rPr>
              <a:t>• OpenCV YuNet: Ultra-fast lightweight deep face detector running in ~12ms on CPU.</a:t>
            </a:r>
          </a:p>
          <a:p>
            <a:pPr>
              <a:spcBef>
                <a:spcPts val="800"/>
              </a:spcBef>
            </a:pPr>
            <a:r>
              <a:rPr sz="1300">
                <a:solidFill>
                  <a:srgbClr val="A0AEC0"/>
                </a:solidFill>
                <a:latin typeface="Segoe UI"/>
              </a:rPr>
              <a:t>• ArcFace ONNX: MobileFaceNet neural network generating 512-dimensional face vectors.</a:t>
            </a:r>
          </a:p>
        </p:txBody>
      </p:sp>
      <p:sp>
        <p:nvSpPr>
          <p:cNvPr id="6" name="Rounded Rectangle 5"/>
          <p:cNvSpPr/>
          <p:nvPr/>
        </p:nvSpPr>
        <p:spPr>
          <a:xfrm>
            <a:off x="6248095" y="1965960"/>
            <a:ext cx="5029200" cy="2148840"/>
          </a:xfrm>
          <a:prstGeom prst="roundRect">
            <a:avLst/>
          </a:prstGeom>
          <a:solidFill>
            <a:srgbClr val="162136"/>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34D399"/>
                </a:solidFill>
                <a:latin typeface="Segoe UI"/>
              </a:rPr>
              <a:t>2. Multi-Target Crowd Tracking</a:t>
            </a:r>
          </a:p>
          <a:p>
            <a:pPr>
              <a:spcBef>
                <a:spcPts val="800"/>
              </a:spcBef>
            </a:pPr>
            <a:r>
              <a:rPr sz="1300">
                <a:solidFill>
                  <a:srgbClr val="A0AEC0"/>
                </a:solidFill>
                <a:latin typeface="Segoe UI"/>
              </a:rPr>
              <a:t>• ByteTrack Algorithm: Kalman Filter + IoU tracking engine.</a:t>
            </a:r>
          </a:p>
          <a:p>
            <a:pPr>
              <a:spcBef>
                <a:spcPts val="800"/>
              </a:spcBef>
            </a:pPr>
            <a:r>
              <a:rPr sz="1300">
                <a:solidFill>
                  <a:srgbClr val="A0AEC0"/>
                </a:solidFill>
                <a:latin typeface="Segoe UI"/>
              </a:rPr>
              <a:t>• Seamlessly tracks multiple walking students simultaneously without losing identity across frames.</a:t>
            </a:r>
          </a:p>
        </p:txBody>
      </p:sp>
      <p:sp>
        <p:nvSpPr>
          <p:cNvPr id="7" name="Rounded Rectangle 6"/>
          <p:cNvSpPr/>
          <p:nvPr/>
        </p:nvSpPr>
        <p:spPr>
          <a:xfrm>
            <a:off x="914400" y="4343400"/>
            <a:ext cx="5029200" cy="2148840"/>
          </a:xfrm>
          <a:prstGeom prst="roundRect">
            <a:avLst/>
          </a:prstGeom>
          <a:solidFill>
            <a:srgbClr val="162136"/>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FBBF24"/>
                </a:solidFill>
                <a:latin typeface="Segoe UI"/>
              </a:rPr>
              <a:t>3. High-Performance Backend</a:t>
            </a:r>
          </a:p>
          <a:p>
            <a:pPr>
              <a:spcBef>
                <a:spcPts val="800"/>
              </a:spcBef>
            </a:pPr>
            <a:r>
              <a:rPr sz="1300">
                <a:solidFill>
                  <a:srgbClr val="A0AEC0"/>
                </a:solidFill>
                <a:latin typeface="Segoe UI"/>
              </a:rPr>
              <a:t>• FastAPI (Python 3.10+): Asynchronous, low-latency REST &amp; WebSocket server.</a:t>
            </a:r>
          </a:p>
          <a:p>
            <a:pPr>
              <a:spcBef>
                <a:spcPts val="800"/>
              </a:spcBef>
            </a:pPr>
            <a:r>
              <a:rPr sz="1300">
                <a:solidFill>
                  <a:srgbClr val="A0AEC0"/>
                </a:solidFill>
                <a:latin typeface="Segoe UI"/>
              </a:rPr>
              <a:t>• NumPy BLAS Matching: Sub-millisecond (&lt; 0.4ms) vectorized dot-product search across thousands of faces.</a:t>
            </a:r>
          </a:p>
        </p:txBody>
      </p:sp>
      <p:sp>
        <p:nvSpPr>
          <p:cNvPr id="8" name="Rounded Rectangle 7"/>
          <p:cNvSpPr/>
          <p:nvPr/>
        </p:nvSpPr>
        <p:spPr>
          <a:xfrm>
            <a:off x="6248095" y="4343400"/>
            <a:ext cx="5029200" cy="2148840"/>
          </a:xfrm>
          <a:prstGeom prst="roundRect">
            <a:avLst/>
          </a:prstGeom>
          <a:solidFill>
            <a:srgbClr val="162136"/>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F43F5E"/>
                </a:solidFill>
                <a:latin typeface="Segoe UI"/>
              </a:rPr>
              <a:t>4. Command Center Frontend</a:t>
            </a:r>
          </a:p>
          <a:p>
            <a:pPr>
              <a:spcBef>
                <a:spcPts val="800"/>
              </a:spcBef>
            </a:pPr>
            <a:r>
              <a:rPr sz="1300">
                <a:solidFill>
                  <a:srgbClr val="A0AEC0"/>
                </a:solidFill>
                <a:latin typeface="Segoe UI"/>
              </a:rPr>
              <a:t>• React 19 + Vite: Modern, responsive glassmorphism dark mode interface.</a:t>
            </a:r>
          </a:p>
          <a:p>
            <a:pPr>
              <a:spcBef>
                <a:spcPts val="800"/>
              </a:spcBef>
            </a:pPr>
            <a:r>
              <a:rPr sz="1300">
                <a:solidFill>
                  <a:srgbClr val="A0AEC0"/>
                </a:solidFill>
                <a:latin typeface="Segoe UI"/>
              </a:rPr>
              <a:t>• HTML5 Canvas HUD: Smooth 60 FPS live camera overlay displaying real-time tracking boxes.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320040"/>
          </a:xfrm>
          <a:prstGeom prst="rect">
            <a:avLst/>
          </a:prstGeom>
          <a:noFill/>
        </p:spPr>
        <p:txBody>
          <a:bodyPr wrap="square" lIns="0" tIns="0" rIns="0" bIns="0">
            <a:spAutoFit/>
          </a:bodyPr>
          <a:lstStyle/>
          <a:p>
            <a:r>
              <a:rPr sz="1100" b="1">
                <a:solidFill>
                  <a:srgbClr val="38BDF8"/>
                </a:solidFill>
                <a:latin typeface="Segoe UI"/>
              </a:rPr>
              <a:t>SYSTEM PIPELINE</a:t>
            </a:r>
          </a:p>
        </p:txBody>
      </p:sp>
      <p:sp>
        <p:nvSpPr>
          <p:cNvPr id="4" name="TextBox 3"/>
          <p:cNvSpPr txBox="1"/>
          <p:nvPr/>
        </p:nvSpPr>
        <p:spPr>
          <a:xfrm>
            <a:off x="914400" y="822960"/>
            <a:ext cx="10332720" cy="1005840"/>
          </a:xfrm>
          <a:prstGeom prst="rect">
            <a:avLst/>
          </a:prstGeom>
          <a:noFill/>
        </p:spPr>
        <p:txBody>
          <a:bodyPr wrap="square" lIns="0" tIns="0" rIns="0" bIns="0">
            <a:spAutoFit/>
          </a:bodyPr>
          <a:lstStyle/>
          <a:p>
            <a:r>
              <a:rPr sz="2800" b="1">
                <a:solidFill>
                  <a:srgbClr val="FFFFFF"/>
                </a:solidFill>
                <a:latin typeface="Segoe UI"/>
              </a:rPr>
              <a:t>How It Works in 4 Simple Steps</a:t>
            </a:r>
          </a:p>
          <a:p>
            <a:pPr>
              <a:spcBef>
                <a:spcPts val="400"/>
              </a:spcBef>
            </a:pPr>
            <a:r>
              <a:rPr sz="1300">
                <a:solidFill>
                  <a:srgbClr val="A0AEC0"/>
                </a:solidFill>
                <a:latin typeface="Segoe UI"/>
              </a:rPr>
              <a:t>From live camera video stream to verified attendance record in under 35 milliseconds.</a:t>
            </a:r>
          </a:p>
        </p:txBody>
      </p:sp>
      <p:sp>
        <p:nvSpPr>
          <p:cNvPr id="5" name="Rounded Rectangle 4"/>
          <p:cNvSpPr/>
          <p:nvPr/>
        </p:nvSpPr>
        <p:spPr>
          <a:xfrm>
            <a:off x="914400" y="1965960"/>
            <a:ext cx="2423160" cy="4480560"/>
          </a:xfrm>
          <a:prstGeom prst="roundRect">
            <a:avLst/>
          </a:prstGeom>
          <a:solidFill>
            <a:srgbClr val="16213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300" b="1">
                <a:solidFill>
                  <a:srgbClr val="38BDF8"/>
                </a:solidFill>
                <a:latin typeface="Segoe UI"/>
              </a:rPr>
              <a:t>Step 1: Capture</a:t>
            </a:r>
          </a:p>
          <a:p>
            <a:pPr>
              <a:spcBef>
                <a:spcPts val="800"/>
              </a:spcBef>
            </a:pPr>
            <a:r>
              <a:rPr sz="1500" b="1">
                <a:solidFill>
                  <a:srgbClr val="FFFFFF"/>
                </a:solidFill>
                <a:latin typeface="Segoe UI"/>
              </a:rPr>
              <a:t>Live Camera Feed</a:t>
            </a:r>
          </a:p>
          <a:p>
            <a:pPr>
              <a:spcBef>
                <a:spcPts val="1200"/>
              </a:spcBef>
            </a:pPr>
            <a:r>
              <a:rPr sz="1250">
                <a:solidFill>
                  <a:srgbClr val="A0AEC0"/>
                </a:solidFill>
                <a:latin typeface="Segoe UI"/>
              </a:rPr>
              <a:t>Ingests live high-framerate video stream from standard USB webcams or campus RTSP CCTV cameras via a multi-threaded non-blocking buffer.</a:t>
            </a:r>
          </a:p>
        </p:txBody>
      </p:sp>
      <p:sp>
        <p:nvSpPr>
          <p:cNvPr id="6" name="Rounded Rectangle 5"/>
          <p:cNvSpPr/>
          <p:nvPr/>
        </p:nvSpPr>
        <p:spPr>
          <a:xfrm>
            <a:off x="3557016" y="1965960"/>
            <a:ext cx="2423160" cy="4480560"/>
          </a:xfrm>
          <a:prstGeom prst="roundRect">
            <a:avLst/>
          </a:prstGeom>
          <a:solidFill>
            <a:srgbClr val="162136"/>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300" b="1">
                <a:solidFill>
                  <a:srgbClr val="34D399"/>
                </a:solidFill>
                <a:latin typeface="Segoe UI"/>
              </a:rPr>
              <a:t>Step 2: Detect</a:t>
            </a:r>
          </a:p>
          <a:p>
            <a:pPr>
              <a:spcBef>
                <a:spcPts val="800"/>
              </a:spcBef>
            </a:pPr>
            <a:r>
              <a:rPr sz="1500" b="1">
                <a:solidFill>
                  <a:srgbClr val="FFFFFF"/>
                </a:solidFill>
                <a:latin typeface="Segoe UI"/>
              </a:rPr>
              <a:t>YuNet + ByteTrack</a:t>
            </a:r>
          </a:p>
          <a:p>
            <a:pPr>
              <a:spcBef>
                <a:spcPts val="1200"/>
              </a:spcBef>
            </a:pPr>
            <a:r>
              <a:rPr sz="1250">
                <a:solidFill>
                  <a:srgbClr val="A0AEC0"/>
                </a:solidFill>
                <a:latin typeface="Segoe UI"/>
              </a:rPr>
              <a:t>YuNet locates all human faces in ~12ms. ByteTrack assigns a continuous unique tracking ID to each person as they walk naturally toward the gate.</a:t>
            </a:r>
          </a:p>
        </p:txBody>
      </p:sp>
      <p:sp>
        <p:nvSpPr>
          <p:cNvPr id="7" name="Rounded Rectangle 6"/>
          <p:cNvSpPr/>
          <p:nvPr/>
        </p:nvSpPr>
        <p:spPr>
          <a:xfrm>
            <a:off x="6199632" y="1965960"/>
            <a:ext cx="2423160" cy="4480560"/>
          </a:xfrm>
          <a:prstGeom prst="roundRect">
            <a:avLst/>
          </a:prstGeom>
          <a:solidFill>
            <a:srgbClr val="162136"/>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300" b="1">
                <a:solidFill>
                  <a:srgbClr val="FBBF24"/>
                </a:solidFill>
                <a:latin typeface="Segoe UI"/>
              </a:rPr>
              <a:t>Step 3: Match</a:t>
            </a:r>
          </a:p>
          <a:p>
            <a:pPr>
              <a:spcBef>
                <a:spcPts val="800"/>
              </a:spcBef>
            </a:pPr>
            <a:r>
              <a:rPr sz="1500" b="1">
                <a:solidFill>
                  <a:srgbClr val="FFFFFF"/>
                </a:solidFill>
                <a:latin typeface="Segoe UI"/>
              </a:rPr>
              <a:t>512-D ArcFace Match</a:t>
            </a:r>
          </a:p>
          <a:p>
            <a:pPr>
              <a:spcBef>
                <a:spcPts val="1200"/>
              </a:spcBef>
            </a:pPr>
            <a:r>
              <a:rPr sz="1250">
                <a:solidFill>
                  <a:srgbClr val="A0AEC0"/>
                </a:solidFill>
                <a:latin typeface="Segoe UI"/>
              </a:rPr>
              <a:t>Aligns face landmarks, extracts a 512-dimensional biometric vector, and matches it against database vectors in &lt; 0.4ms using NumPy BLAS math.</a:t>
            </a:r>
          </a:p>
        </p:txBody>
      </p:sp>
      <p:sp>
        <p:nvSpPr>
          <p:cNvPr id="8" name="Rounded Rectangle 7"/>
          <p:cNvSpPr/>
          <p:nvPr/>
        </p:nvSpPr>
        <p:spPr>
          <a:xfrm>
            <a:off x="8842248" y="1965960"/>
            <a:ext cx="2423160" cy="4480560"/>
          </a:xfrm>
          <a:prstGeom prst="roundRect">
            <a:avLst/>
          </a:prstGeom>
          <a:solidFill>
            <a:srgbClr val="162136"/>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300" b="1">
                <a:solidFill>
                  <a:srgbClr val="F43F5E"/>
                </a:solidFill>
                <a:latin typeface="Segoe UI"/>
              </a:rPr>
              <a:t>Step 4: Confirm</a:t>
            </a:r>
          </a:p>
          <a:p>
            <a:pPr>
              <a:spcBef>
                <a:spcPts val="800"/>
              </a:spcBef>
            </a:pPr>
            <a:r>
              <a:rPr sz="1500" b="1">
                <a:solidFill>
                  <a:srgbClr val="FFFFFF"/>
                </a:solidFill>
                <a:latin typeface="Segoe UI"/>
              </a:rPr>
              <a:t>Temporal State Engine</a:t>
            </a:r>
          </a:p>
          <a:p>
            <a:pPr>
              <a:spcBef>
                <a:spcPts val="1200"/>
              </a:spcBef>
            </a:pPr>
            <a:r>
              <a:rPr sz="1250">
                <a:solidFill>
                  <a:srgbClr val="A0AEC0"/>
                </a:solidFill>
                <a:latin typeface="Segoe UI"/>
              </a:rPr>
              <a:t>Requires 3 consistent matches across 5 frames to prevent glitches, records attendance in database, and announces personal audio greeting.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10332720" cy="320040"/>
          </a:xfrm>
          <a:prstGeom prst="rect">
            <a:avLst/>
          </a:prstGeom>
          <a:noFill/>
        </p:spPr>
        <p:txBody>
          <a:bodyPr wrap="square" lIns="0" tIns="0" rIns="0" bIns="0">
            <a:spAutoFit/>
          </a:bodyPr>
          <a:lstStyle/>
          <a:p>
            <a:r>
              <a:rPr sz="1100" b="1">
                <a:solidFill>
                  <a:srgbClr val="38BDF8"/>
                </a:solidFill>
                <a:latin typeface="Segoe UI"/>
              </a:rPr>
              <a:t>LIVE DEMONSTRATION</a:t>
            </a:r>
          </a:p>
        </p:txBody>
      </p:sp>
      <p:sp>
        <p:nvSpPr>
          <p:cNvPr id="4" name="TextBox 3"/>
          <p:cNvSpPr txBox="1"/>
          <p:nvPr/>
        </p:nvSpPr>
        <p:spPr>
          <a:xfrm>
            <a:off x="914400" y="822960"/>
            <a:ext cx="10332720" cy="1005840"/>
          </a:xfrm>
          <a:prstGeom prst="rect">
            <a:avLst/>
          </a:prstGeom>
          <a:noFill/>
        </p:spPr>
        <p:txBody>
          <a:bodyPr wrap="square" lIns="0" tIns="0" rIns="0" bIns="0">
            <a:spAutoFit/>
          </a:bodyPr>
          <a:lstStyle/>
          <a:p>
            <a:r>
              <a:rPr sz="2800" b="1">
                <a:solidFill>
                  <a:srgbClr val="FFFFFF"/>
                </a:solidFill>
                <a:latin typeface="Segoe UI"/>
              </a:rPr>
              <a:t>Tech Expo Live Demo Highlights</a:t>
            </a:r>
          </a:p>
          <a:p>
            <a:pPr>
              <a:spcBef>
                <a:spcPts val="400"/>
              </a:spcBef>
            </a:pPr>
            <a:r>
              <a:rPr sz="1300">
                <a:solidFill>
                  <a:srgbClr val="A0AEC0"/>
                </a:solidFill>
                <a:latin typeface="Segoe UI"/>
              </a:rPr>
              <a:t>Experience these production-ready features live at our exhibition booth.</a:t>
            </a:r>
          </a:p>
        </p:txBody>
      </p:sp>
      <p:sp>
        <p:nvSpPr>
          <p:cNvPr id="5" name="Rounded Rectangle 4"/>
          <p:cNvSpPr/>
          <p:nvPr/>
        </p:nvSpPr>
        <p:spPr>
          <a:xfrm>
            <a:off x="914400" y="1965960"/>
            <a:ext cx="5029200" cy="2148840"/>
          </a:xfrm>
          <a:prstGeom prst="roundRect">
            <a:avLst/>
          </a:prstGeom>
          <a:solidFill>
            <a:srgbClr val="162136"/>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38BDF8"/>
                </a:solidFill>
                <a:latin typeface="Segoe UI"/>
              </a:rPr>
              <a:t>1. 30+ FPS on Basic Laptop CPU</a:t>
            </a:r>
          </a:p>
          <a:p>
            <a:pPr>
              <a:spcBef>
                <a:spcPts val="800"/>
              </a:spcBef>
            </a:pPr>
            <a:r>
              <a:rPr sz="1300">
                <a:solidFill>
                  <a:srgbClr val="A0AEC0"/>
                </a:solidFill>
                <a:latin typeface="Segoe UI"/>
              </a:rPr>
              <a:t>See the system running live right now on this standard laptop. No external GPU or cloud connection required ($0 extra hardware costs).</a:t>
            </a:r>
          </a:p>
        </p:txBody>
      </p:sp>
      <p:sp>
        <p:nvSpPr>
          <p:cNvPr id="6" name="Rounded Rectangle 5"/>
          <p:cNvSpPr/>
          <p:nvPr/>
        </p:nvSpPr>
        <p:spPr>
          <a:xfrm>
            <a:off x="6248095" y="1965960"/>
            <a:ext cx="5029200" cy="2148840"/>
          </a:xfrm>
          <a:prstGeom prst="roundRect">
            <a:avLst/>
          </a:prstGeom>
          <a:solidFill>
            <a:srgbClr val="162136"/>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34D399"/>
                </a:solidFill>
                <a:latin typeface="Segoe UI"/>
              </a:rPr>
              <a:t>2. Live 60 FPS Video HUD &amp; Audio</a:t>
            </a:r>
          </a:p>
          <a:p>
            <a:pPr>
              <a:spcBef>
                <a:spcPts val="800"/>
              </a:spcBef>
            </a:pPr>
            <a:r>
              <a:rPr sz="1300">
                <a:solidFill>
                  <a:srgbClr val="A0AEC0"/>
                </a:solidFill>
                <a:latin typeface="Segoe UI"/>
              </a:rPr>
              <a:t>Watch real-time color-coded tracking bounding boxes (Green = Recognized student, Orange = Visitor) accompanied by real-time voice speech greetings.</a:t>
            </a:r>
          </a:p>
        </p:txBody>
      </p:sp>
      <p:sp>
        <p:nvSpPr>
          <p:cNvPr id="7" name="Rounded Rectangle 6"/>
          <p:cNvSpPr/>
          <p:nvPr/>
        </p:nvSpPr>
        <p:spPr>
          <a:xfrm>
            <a:off x="914400" y="4343400"/>
            <a:ext cx="5029200" cy="2148840"/>
          </a:xfrm>
          <a:prstGeom prst="roundRect">
            <a:avLst/>
          </a:prstGeom>
          <a:solidFill>
            <a:srgbClr val="162136"/>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FBBF24"/>
                </a:solidFill>
                <a:latin typeface="Segoe UI"/>
              </a:rPr>
              <a:t>3. Smart Unknown Visitor Capture</a:t>
            </a:r>
          </a:p>
          <a:p>
            <a:pPr>
              <a:spcBef>
                <a:spcPts val="800"/>
              </a:spcBef>
            </a:pPr>
            <a:r>
              <a:rPr sz="1300">
                <a:solidFill>
                  <a:srgbClr val="A0AEC0"/>
                </a:solidFill>
                <a:latin typeface="Segoe UI"/>
              </a:rPr>
              <a:t>Unregistered persons are automatically detected, given a visitor track ID, and snapshotted with their sharpest photo for instant 1-click enrollment.</a:t>
            </a:r>
          </a:p>
        </p:txBody>
      </p:sp>
      <p:sp>
        <p:nvSpPr>
          <p:cNvPr id="8" name="Rounded Rectangle 7"/>
          <p:cNvSpPr/>
          <p:nvPr/>
        </p:nvSpPr>
        <p:spPr>
          <a:xfrm>
            <a:off x="6248095" y="4343400"/>
            <a:ext cx="5029200" cy="2148840"/>
          </a:xfrm>
          <a:prstGeom prst="roundRect">
            <a:avLst/>
          </a:prstGeom>
          <a:solidFill>
            <a:srgbClr val="162136"/>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r>
              <a:rPr sz="1600" b="1">
                <a:solidFill>
                  <a:srgbClr val="F43F5E"/>
                </a:solidFill>
                <a:latin typeface="Segoe UI"/>
              </a:rPr>
              <a:t>4. 1-Click Excel Attendance Reports</a:t>
            </a:r>
          </a:p>
          <a:p>
            <a:pPr>
              <a:spcBef>
                <a:spcPts val="800"/>
              </a:spcBef>
            </a:pPr>
            <a:r>
              <a:rPr sz="1300">
                <a:solidFill>
                  <a:srgbClr val="A0AEC0"/>
                </a:solidFill>
                <a:latin typeface="Segoe UI"/>
              </a:rPr>
              <a:t>Test live filtering by Department and Year to view real-time Present vs Absent rosters, and download a complete Excel spreadsheet (.xlsx) with 1 click.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